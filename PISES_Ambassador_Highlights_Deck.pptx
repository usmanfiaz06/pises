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PISES NEW CAMPUS  |  AMBASSADOR HIGHLIGHTS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9A2A"/>
                </a:solidFill>
                <a:latin typeface="Calibri"/>
              </a:defRPr>
            </a:pPr>
            <a:r>
              <a:t>Pakistan International School (English Section), Riyadh  |  Al Safa Plot  |  25,000 m²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9A2A"/>
                </a:solidFill>
                <a:latin typeface="Calibri"/>
              </a:defRPr>
            </a:pPr>
            <a:r>
              <a:t>SLIDE 1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Design Framework &amp; Regulatory Basis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965960" cy="105156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1411C"/>
                </a:solidFill>
                <a:latin typeface="Calibri"/>
              </a:defRPr>
            </a:pPr>
            <a:r>
              <a:t>CATEGORY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24242"/>
                </a:solidFill>
                <a:latin typeface="Calibri"/>
              </a:defRPr>
            </a:pPr>
            <a:r>
              <a:t>TBC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Major Cities (Riyadh)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280160"/>
            <a:ext cx="1965960" cy="105156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1411C"/>
                </a:solidFill>
                <a:latin typeface="Calibri"/>
              </a:defRPr>
            </a:pPr>
            <a:r>
              <a:t>4.8 m²/student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847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24242"/>
                </a:solidFill>
                <a:latin typeface="Calibri"/>
              </a:defRPr>
            </a:pPr>
            <a:r>
              <a:t>Education Complex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084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(K+Elem+Inter+Sec)/4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456" y="1280160"/>
            <a:ext cx="1965960" cy="105156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1411C"/>
                </a:solidFill>
                <a:latin typeface="Calibri"/>
              </a:defRPr>
            </a:pPr>
            <a:r>
              <a:t>25 students/class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1847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24242"/>
                </a:solidFill>
                <a:latin typeface="Calibri"/>
              </a:defRPr>
            </a:pPr>
            <a:r>
              <a:t>Max Classroom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2084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TBC Mandated Limit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8584" y="1280160"/>
            <a:ext cx="1965960" cy="105156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1411C"/>
                </a:solidFill>
                <a:latin typeface="Calibri"/>
              </a:defRPr>
            </a:pPr>
            <a:r>
              <a:t>~304 classrooms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1847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24242"/>
                </a:solidFill>
                <a:latin typeface="Calibri"/>
              </a:defRPr>
            </a:pPr>
            <a:r>
              <a:t>7,000-Student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744" y="2084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Gender-separated G2-G12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25712" y="1280160"/>
            <a:ext cx="1965960" cy="105156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1411C"/>
                </a:solidFill>
                <a:latin typeface="Calibri"/>
              </a:defRPr>
            </a:pPr>
            <a:r>
              <a:t>~52,400 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1847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24242"/>
                </a:solidFill>
                <a:latin typeface="Calibri"/>
              </a:defRPr>
            </a:pPr>
            <a:r>
              <a:t>Total Built-Up Area (BUA)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084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NET 33,983 m² × Grossing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292840" y="1280160"/>
            <a:ext cx="1965960" cy="105156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1411C"/>
                </a:solidFill>
                <a:latin typeface="Calibri"/>
              </a:defRPr>
            </a:pPr>
            <a:r>
              <a:t>B + G + 2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1847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24242"/>
                </a:solidFill>
                <a:latin typeface="Calibri"/>
              </a:defRPr>
            </a:pPr>
            <a:r>
              <a:t>Building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2084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1 Basement + 3 Above 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06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1411C"/>
                </a:solidFill>
                <a:latin typeface="Calibri"/>
              </a:defRPr>
            </a:pPr>
            <a:r>
              <a:t>TBC-MANDATED vs NON-TBC DESIGN STANDARDS  |  CATEGORY A  (Riyadh)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297180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097280"/>
                <a:gridCol w="146304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Education Level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Area/Student (m²)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 Net (m²)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Facility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 Rule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Nursery (1m-1yr)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1.4 (activity) + 0.7 (bed)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45.0 per 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Activity Room + Bedroom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 TBC manual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Nursery (1yr-3yr)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1.8 (activity) + 0.9 (bed)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45.0 + 22.5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Activity + Bedroom + Feeding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 TBC 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Kindergarten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 + Toilet + Court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Court = ½ class area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Elementary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1.3 (class) / 1.9 (lab)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43.12 / 60.1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 + Lab + LRC + Art + MPR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Lab per 10 classes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1.4 (class) / 2.0 (lab)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45.90 / 62.96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 + Labs + LRC + Art + MPR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Lab per 10 classes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Secondary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1.5 (class) / 2.2 (lab)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48.12 / 69.9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 + Labs + LRC + Art + MPR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Lab per 10 classes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Science Lab (Elem)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General Science Lab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per 10 classrooms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Computer Lab (Elem)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Computer &amp; Languages 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 unit / qty 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Learning Resource Ctr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Library / LRC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Librarian 8 m² min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406640" y="2606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1411C"/>
                </a:solidFill>
                <a:latin typeface="Calibri"/>
              </a:defRPr>
            </a:pPr>
            <a:r>
              <a:t>REGULATORY HIERARCHY &amp; NET→GROSS METHODOLOGY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017520"/>
            <a:ext cx="3291840" cy="18288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3090672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200"/>
              </a:spcAft>
              <a:defRPr sz="800" b="1">
                <a:solidFill>
                  <a:srgbClr val="424242"/>
                </a:solidFill>
                <a:latin typeface="Calibri"/>
              </a:defRPr>
            </a:pPr>
            <a:r>
              <a:t>REGULATORY HIERARCHY (Order of Authority):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1. Saudi Building Code (SBC) — Mandatory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2. Civil Defense Regulations — Mandatory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3. Municipal / Balady Requirements — Mandatory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4. TBC Category A Guidelines — Programmatic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5. International Codes (IBC/NFPA) — Reference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▶ Where conflict: more stringent governs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▶ Occupancy: Group E (Educational)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▶ Risk Category III (&gt;250 occupants)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27080" y="3017520"/>
            <a:ext cx="3246120" cy="18288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36808" y="3090672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200"/>
              </a:spcAft>
              <a:defRPr sz="800" b="1">
                <a:solidFill>
                  <a:srgbClr val="424242"/>
                </a:solidFill>
                <a:latin typeface="Calibri"/>
              </a:defRPr>
            </a:pPr>
            <a:r>
              <a:t>NET → GROSS MULTIPLIERS: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Academic / Admin / SEN:    NET × 1.45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High-Service (Labs/Sports): NET × 1.65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Ops / Back-of-House:       NET × 1.55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EDUCATION COMPLEX FORMULA: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(K + Elem + Inter + Sec) ÷ 4 = 4.8 m²/student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(5.0 + 4.4 + 4.7 + 5.25) ÷ 4 = 4.8375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Land Baseline: 4.8 m² × 7,000 = 33,600 m²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983480"/>
            <a:ext cx="6766560" cy="27432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501091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NON-TBC ITEMS (Best Practice / Institutional Planning Assumptions)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7406640" y="5303520"/>
          <a:ext cx="6766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118872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Facilities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Area Drivers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Basis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SEN &amp; Wellbeing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Resource Rooms, Therapy, Sensory, Counselling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736 m² NET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International Best Practice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Food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2× Dining Halls, Kitchen, Servery, Cold 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3,380 m² 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Multi-shift dining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Sports &amp; PE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2× Sports Halls, Pool (25m), Changing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3,981 m² NET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Institutional standard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Auditorium/Commons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300-seat Auditorium, 2,000 m² Atrium, Exam Hall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4,070 m² 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Campus life /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Pakistan International School (English Section), Riyadh  |  Basis of Design v0.4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Prepared for Ambassador / SMC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CAPACITY SCENARIOS  |  5,500 / 6,000 / 7,000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9A2A"/>
                </a:solidFill>
                <a:latin typeface="Calibri"/>
              </a:defRPr>
            </a:pPr>
            <a:r>
              <a:t>Proportional Scaling from Actual Enrollment (5,263 current) to Design Targets  |  NET-First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9A2A"/>
                </a:solidFill>
                <a:latin typeface="Calibri"/>
              </a:defRPr>
            </a:pPr>
            <a:r>
              <a:t>SLIDE 2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Scenario Comparison &amp; Area Build-Up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CURRENT ENROLLMENT SNAPSHOT  (Session 2024-25, as of 31 March 2025)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58521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77240"/>
                <a:gridCol w="685800"/>
                <a:gridCol w="640080"/>
                <a:gridCol w="640080"/>
                <a:gridCol w="640080"/>
                <a:gridCol w="73152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Grades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Boys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Girls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Sections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Avg/Section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Classrooms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@25 cap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Early Years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Nursery-KG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415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386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G1–G4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G5–G9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2,051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1,042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1,009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Secondary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G10–G12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108960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1411C"/>
                </a:solidFill>
                <a:latin typeface="Calibri"/>
              </a:defRPr>
            </a:pPr>
            <a:r>
              <a:t>TOTAL CURRENT: 5,263 students  |  Boys: 2,690 (51.1%)  |  Girls: 2,573 (48.9%)  |  281 Sections  |  Morning + Afternoon shifts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2344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SCALING METHODOLOGY  (Proportional Distribution from Current Baseline)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554480"/>
            <a:ext cx="6766560" cy="256032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645920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STEP 1:  Current distribution ratios derived from actual 5,263 enrollment</a:t>
            </a: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           Early Years 15.2% | Primary 31.1% | Intermediate 39.0% | Secondary 14.7%</a:t>
            </a: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STEP 2:  Apply ratios to target capacity → derive student count per segment</a:t>
            </a: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STEP 3:  Classrooms = Students ÷ 25 (TBC max/class) + operational buffer (~8%)</a:t>
            </a: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STEP 4:  NET area = Classrooms × TBC unit areas + specialist spaces (labs, LRC, etc.)</a:t>
            </a: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           Specialist ratio: 1 Science Lab per 10 classrooms; 1 ICT Lab per ~15 classes</a:t>
            </a: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STEP 5:  GROSS (BUA) = NET × grossing factors (1.45 academic / 1.65 high-service)</a:t>
            </a: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l">
              <a:lnSpc>
                <a:spcPts val="1000"/>
              </a:lnSpc>
              <a:spcAft>
                <a:spcPts val="20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STEP 6:  Gender separation from G2 onwards doubles classroom wings (Boys + Girls)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1411C"/>
                </a:solidFill>
                <a:latin typeface="Calibri"/>
              </a:defRPr>
            </a:pPr>
            <a:r>
              <a:t>THREE-SCENARIO CAPACITY COMPARISON  |  NET-First Computation to BUA &amp; Cost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480560"/>
          <a:ext cx="13716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"/>
                <a:gridCol w="2926080"/>
                <a:gridCol w="2926080"/>
                <a:gridCol w="4206240"/>
              </a:tblGrid>
              <a:tr h="21145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A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5,500 Students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B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6,000 Students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C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7,000 Students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(BoD Target)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STUDENT DISTRIBUTION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Early Years (Nursery–KG)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Primary (G1–G4)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1866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2177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Intermediate (G5–G9)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Secondary (G10–G12)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1029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TOTAL CLASSROOMS (incl. buffer)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rooms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AREA BUILD-UP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Teaching Spaces 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11,020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14,040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Labs &amp; Specialist NET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4,550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4,940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5,720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Support (SEN/Admin/Staff/IT)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  Shared (Food/Sports/Audit)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9,097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9,798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11,431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  TOTAL NET AREA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m²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27,107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29,356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34,190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  TOTAL GROSS / BUA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m²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41,179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44,580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51,926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SITE COVERAGE (3 floors)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EST. CONSTRUCTION COST (mid)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SAR M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189–204M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204–221M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238–258M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Pakistan International School (English Section), Riyadh  |  Basis of Design v0.4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Prepared for Ambassador / SMC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FACILITY REQUIREMENTS BY LEVEL  |  TIMELINE &amp; COST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9A2A"/>
                </a:solidFill>
                <a:latin typeface="Calibri"/>
              </a:defRPr>
            </a:pPr>
            <a:r>
              <a:t>TBC-Mandated Facilities per 10 Classrooms + Construction Delivery Strategy  |  B + G + 2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9A2A"/>
                </a:solidFill>
                <a:latin typeface="Calibri"/>
              </a:defRPr>
            </a:pPr>
            <a:r>
              <a:t>SLIDE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Facility Matrix &amp; Implementation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TBC-MANDATED FACILITIES PER EDUCATION LEVEL  (Category A, per 10 Classrooms)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7406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1188720"/>
                <a:gridCol w="1188720"/>
                <a:gridCol w="1188720"/>
                <a:gridCol w="5486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Facility Type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Nursery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KG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Elementary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(Boys/Girls)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(Boys/Girls)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Secondary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(Boys/Girls)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Basis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Classrooms (max 25/class)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1.4–1.8 m²/ch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2.5 m²/ch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1.3 m²/st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1.4 m²/st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1.5 m²/st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Science 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per 10 cls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60.1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per 10 cls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62.96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per 10 cls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69.9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Computer/Language Lab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60.1 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62.96 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69.9 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Arts Atelier / Vocational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41.9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51.0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56.7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Learning Resource Center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Multi-media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Library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75.1 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74.7 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88.6 m²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Multi-Purpose 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42.5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45.9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51.0 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Outdoor Pitch/Court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Half class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Double class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Min 300 m²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pitch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Min 400 m²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court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Min 400 m²</a:t>
                      </a:r>
                    </a:p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court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Toilets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1.8 m²/15st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1.8 m²/class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1.35 m²/20st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1.35 m²/20st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1.35 m²/20st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CLASSROOM &amp; LAB COUNT BY SCENARIO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709160"/>
          <a:ext cx="80467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31520"/>
                <a:gridCol w="1828800"/>
                <a:gridCol w="182880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5,500 Students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6,000 Students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7,000 Students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Early Years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Primary (G1-G4)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Intermediate (G5-G9)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Secondary (G10-G12)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TOTAL CLASSROOMS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Rooms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Science + ICT Labs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Rooms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86968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IMPLEMENTATION TIMELINE  |  DESIGN-BID-BUILD MODEL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869680" y="155448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463040"/>
              </a:tblGrid>
              <a:tr h="2946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Cumulative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 Basis of Design (BoD)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2–3 months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 Concept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3–4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Month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 Schematic Design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4–6 months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Month 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 Detailed Design / IFC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4–5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Month 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 Tender &amp; Contractor Award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2–3 months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Month 21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 Construction Phase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18–22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Month 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 Handover &amp; Commissioning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2–3 months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Month 46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TOTAL PROJECT DURATION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30–46 months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~3–4 years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86968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COST SCENARIO COMPARISON  (Excl. Land &amp; Professional Fees)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869680" y="47091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118872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 Level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Range (SAR)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OPEX Profile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Code Minimum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VRF, reduced finish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205–220M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Mid-Institutional</a:t>
                      </a:r>
                    </a:p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(Adopted Baseline)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CHW HVAC, mid finish</a:t>
                      </a:r>
                    </a:p>
                    <a:p>
                      <a:pPr algn="l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Full ICT, AV included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240–260M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BALANCED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Enhanced Campus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Premium facade, BMS</a:t>
                      </a:r>
                    </a:p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Advanced acoustics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270–295M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 Contingency (7–10%)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+17–30M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869680" y="6537960"/>
            <a:ext cx="5303520" cy="86868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661111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2"/>
              </a:lnSpc>
              <a:spcAft>
                <a:spcPts val="200"/>
              </a:spcAft>
              <a:defRPr sz="750" b="1">
                <a:solidFill>
                  <a:srgbClr val="424242"/>
                </a:solidFill>
                <a:latin typeface="Calibri"/>
              </a:defRPr>
            </a:pPr>
            <a:r>
              <a:t>BUILDING CONFIGURATION:  Basement + Ground + Floor 1 + Floor 2  (B + G + 2)</a:t>
            </a:r>
          </a:p>
          <a:p>
            <a:pPr algn="l">
              <a:lnSpc>
                <a:spcPts val="1012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Plot: 25,000 m²  |  Footprint: ~17,500 m²/floor  |  Site Coverage: ~70%  |  Urban high-density model</a:t>
            </a:r>
          </a:p>
          <a:p>
            <a:pPr algn="l">
              <a:lnSpc>
                <a:spcPts val="1012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Basement: Staff parking + MEP plant + Fire tanks + Storage  |  Above grade: Academic + Shared functions</a:t>
            </a:r>
          </a:p>
          <a:p>
            <a:pPr algn="l">
              <a:lnSpc>
                <a:spcPts val="1012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Delivery: Traditional Design-Bid-Build  |  Phasing Option: Phase 1 (5,000 cap) + Phase 2 (2,000 expansion)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949440"/>
            <a:ext cx="13716000" cy="68580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995160"/>
            <a:ext cx="1344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0"/>
              </a:lnSpc>
              <a:spcAft>
                <a:spcPts val="200"/>
              </a:spcAft>
              <a:defRPr sz="700" b="1">
                <a:solidFill>
                  <a:srgbClr val="C62828"/>
                </a:solidFill>
                <a:latin typeface="Calibri"/>
              </a:defRPr>
            </a:pPr>
            <a:r>
              <a:t>KEY ASSUMPTIONS &amp; NOTES FOR AMBASSADOR REVIEW:</a:t>
            </a:r>
          </a:p>
          <a:p>
            <a:pPr algn="l">
              <a:lnSpc>
                <a:spcPts val="910"/>
              </a:lnSpc>
              <a:spcAft>
                <a:spcPts val="200"/>
              </a:spcAft>
              <a:defRPr sz="700" b="0">
                <a:solidFill>
                  <a:srgbClr val="C62828"/>
                </a:solidFill>
                <a:latin typeface="Calibri"/>
              </a:defRPr>
            </a:pPr>
            <a:r>
              <a:t>● All TBC-mandated areas comply with Category A (Riyadh) standards  |  ● Max 25 students/classroom (TBC)  |  ● Gender separation from Grade 2 per Saudi regulation</a:t>
            </a:r>
          </a:p>
          <a:p>
            <a:pPr algn="l">
              <a:lnSpc>
                <a:spcPts val="910"/>
              </a:lnSpc>
              <a:spcAft>
                <a:spcPts val="200"/>
              </a:spcAft>
              <a:defRPr sz="700" b="0">
                <a:solidFill>
                  <a:srgbClr val="C62828"/>
                </a:solidFill>
                <a:latin typeface="Calibri"/>
              </a:defRPr>
            </a:pPr>
            <a:r>
              <a:t>● Non-TBC items (SEN, Food, Sports, Auditorium) follow international best practice  |  ● Costs are 2025 SAR planning estimates excl. land, fees &amp; inflation  |  ● 7,000 is design target; current enrollment = 5,263</a:t>
            </a:r>
          </a:p>
          <a:p>
            <a:pPr algn="l">
              <a:lnSpc>
                <a:spcPts val="910"/>
              </a:lnSpc>
              <a:spcAft>
                <a:spcPts val="200"/>
              </a:spcAft>
              <a:defRPr sz="700" b="0">
                <a:solidFill>
                  <a:srgbClr val="C62828"/>
                </a:solidFill>
                <a:latin typeface="Calibri"/>
              </a:defRPr>
            </a:pPr>
            <a:r>
              <a:t>● NET → GROSS factors: Academic 1.45× / High-service 1.65× / Ops 1.55×  |  ● Structural &amp; MEP designed for full 7,000 capacity regardless of phasing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Pakistan International School (English Section), Riyadh  |  Basis of Design v0.4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Prepared for Ambassador / SMC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