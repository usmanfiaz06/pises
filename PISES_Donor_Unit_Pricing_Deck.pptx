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4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PISES NEW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280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49A2A"/>
                </a:solidFill>
                <a:latin typeface="Calibri"/>
              </a:defRPr>
            </a:pPr>
            <a:r>
              <a:t>UNIT-BASED DONOR PRICING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108960"/>
            <a:ext cx="5486400" cy="3657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Pakistan International School (English Section), Riyadh  |  Al Safa Plot  |  25,000 m²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4206240"/>
            <a:ext cx="2377440" cy="1188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3159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49A2A"/>
                </a:solidFill>
                <a:latin typeface="Calibri"/>
              </a:defRPr>
            </a:pPr>
            <a:r>
              <a:t>SAR 250M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7731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Total Project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50109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BDBDBD"/>
                </a:solidFill>
                <a:latin typeface="Calibri"/>
              </a:defRPr>
            </a:pPr>
            <a:r>
              <a:t>Mid-Institutional Spec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4206240"/>
            <a:ext cx="2377440" cy="1188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43159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49A2A"/>
                </a:solidFill>
                <a:latin typeface="Calibri"/>
              </a:defRPr>
            </a:pPr>
            <a:r>
              <a:t>7,000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47731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Student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50109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BDBDBD"/>
                </a:solidFill>
                <a:latin typeface="Calibri"/>
              </a:defRPr>
            </a:pPr>
            <a:r>
              <a:t>Design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4206240"/>
            <a:ext cx="2377440" cy="1188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3159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49A2A"/>
                </a:solidFill>
                <a:latin typeface="Calibri"/>
              </a:defRPr>
            </a:pPr>
            <a:r>
              <a:t>52,400 m²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7731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Total Built-Up Area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0109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BDBDBD"/>
                </a:solidFill>
                <a:latin typeface="Calibri"/>
              </a:defRPr>
            </a:pPr>
            <a:r>
              <a:t>NET × Grossing Factors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4206240"/>
            <a:ext cx="2377440" cy="1188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43159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49A2A"/>
                </a:solidFill>
                <a:latin typeface="Calibri"/>
              </a:defRPr>
            </a:pPr>
            <a:r>
              <a:t>504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47731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Total Donor Units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50109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BDBDBD"/>
                </a:solidFill>
                <a:latin typeface="Calibri"/>
              </a:defRPr>
            </a:pPr>
            <a:r>
              <a:t>58 Unique Unit Types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932920" y="4206240"/>
            <a:ext cx="2377440" cy="1188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70080" y="431596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49A2A"/>
                </a:solidFill>
                <a:latin typeface="Calibri"/>
              </a:defRPr>
            </a:pPr>
            <a:r>
              <a:t>SAR 260M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0" y="47731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Sum of All Units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80" y="50109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BDBDBD"/>
                </a:solidFill>
                <a:latin typeface="Calibri"/>
              </a:defRPr>
            </a:pPr>
            <a:r>
              <a:t>Unit-level detail pricing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9436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DBDBD"/>
                </a:solidFill>
                <a:latin typeface="Calibri"/>
              </a:defRPr>
            </a:pPr>
            <a:r>
              <a:t>1 USD = 3.75 SAR  |  Prices include construction, MEP, fit-out, ICT &amp; furniture  |  Excluding land, professional fees &amp; inflation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49224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DBDBD"/>
                </a:solidFill>
                <a:latin typeface="Calibri"/>
              </a:defRPr>
            </a:pPr>
            <a:r>
              <a:t>All facilities comply with Saudi Building Code 2024 and TBC Category A Standards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7818120"/>
            <a:ext cx="14630400" cy="411480"/>
          </a:xfrm>
          <a:prstGeom prst="rect">
            <a:avLst/>
          </a:prstGeom>
          <a:solidFill>
            <a:srgbClr val="00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78455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49A2A"/>
                </a:solidFill>
                <a:latin typeface="Calibri"/>
              </a:defRPr>
            </a:pPr>
            <a:r>
              <a:t>CONFIDENTIAL  |  PISES Donor Unit Pricing v1.0  | 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7845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51560"/>
          </a:xfrm>
          <a:prstGeom prst="rect">
            <a:avLst/>
          </a:prstGeom>
          <a:solidFill>
            <a:srgbClr val="014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COST SUMMARY BY CATEGORY  |  15 FACILITY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9A2A"/>
                </a:solidFill>
                <a:latin typeface="Calibri"/>
              </a:defRPr>
            </a:pPr>
            <a:r>
              <a:t>High-level budget overview for donor briefings  |  7,000-Student Campus  |  SAR 250M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228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49A2A"/>
                </a:solidFill>
                <a:latin typeface="Calibri"/>
              </a:defRPr>
            </a:pPr>
            <a:r>
              <a:t>SLIDE 2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502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Category Summary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9144000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194560"/>
                <a:gridCol w="640080"/>
                <a:gridCol w="1188720"/>
                <a:gridCol w="1828800"/>
                <a:gridCol w="1828800"/>
                <a:gridCol w="1097280"/>
              </a:tblGrid>
              <a:tr h="349623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Units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NET m²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Cost (SAR)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Cost (USD)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of Budget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</a:tr>
              <a:tr h="349623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Classrooms &amp; Teaching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320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14,749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102,035,420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27,209,445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39.3%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49623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Science Laboratories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2,193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17,262,169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4,603,245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623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Computer &amp; ICT Labs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1,060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8,341,310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2,224,349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49623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Specialist Studios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5,725,286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1,526,743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623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Libraries &amp; LRC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477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3,298,472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879,593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49623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Sports &amp; 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6,957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54,766,460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14,604,389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21.1%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623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Dining &amp; Food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2,950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23,151,240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6,173,664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49623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Auditorium &amp; Assembly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3,120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24,198,469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1411C"/>
                          </a:solidFill>
                          <a:latin typeface="Calibri"/>
                        </a:defRPr>
                      </a:pPr>
                      <a:r>
                        <a:t>6,452,925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623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Exam Centre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870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6,018,606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1,604,962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49623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SEN &amp; Wellbeing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4,192,264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1,117,937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623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Staff &amp; PD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810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5,603,528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1,494,274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49623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Administration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2,462,786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656,743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623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IT &amp; Security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709,925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189,313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49623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Transport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317,987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84,797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623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Prayer Spaces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1,660,304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442,748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4963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GRAND TOTAL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504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35,274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259,744,226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69,265,127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424160" y="13258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1411C"/>
                </a:solidFill>
                <a:latin typeface="Calibri"/>
              </a:defRPr>
            </a:pPr>
            <a:r>
              <a:t>TOP 5 CATEGORIES (82.6% of budget)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24160" y="1783080"/>
            <a:ext cx="3840480" cy="749808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6132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1411C"/>
                </a:solidFill>
                <a:latin typeface="Calibri"/>
              </a:defRPr>
            </a:pPr>
            <a:r>
              <a:t>Classrooms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20848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Calibri"/>
              </a:defRPr>
            </a:pPr>
            <a:r>
              <a:t>SAR 102.0M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0" y="208483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39.3%  |  320 rooms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61320" y="2350008"/>
            <a:ext cx="3503752" cy="9144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065072" y="2350008"/>
            <a:ext cx="62407" cy="91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24160" y="2651760"/>
            <a:ext cx="3840480" cy="749808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61320" y="2697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1411C"/>
                </a:solidFill>
                <a:latin typeface="Calibri"/>
              </a:defRPr>
            </a:pPr>
            <a:r>
              <a:t>Sports &amp; 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1320" y="2953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Calibri"/>
              </a:defRPr>
            </a:pPr>
            <a:r>
              <a:t>SAR 54.8M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0" y="295351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21.1%  |  17 facilities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61320" y="3218688"/>
            <a:ext cx="1881149" cy="9144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442469" y="3218688"/>
            <a:ext cx="1685010" cy="91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424160" y="3520440"/>
            <a:ext cx="3840480" cy="749808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6132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1411C"/>
                </a:solidFill>
                <a:latin typeface="Calibri"/>
              </a:defRPr>
            </a:pPr>
            <a:r>
              <a:t>Auditorium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38221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Calibri"/>
              </a:defRPr>
            </a:pPr>
            <a:r>
              <a:t>SAR 24.2M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27280" y="382219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9.3%  |  14 spaces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61320" y="4087368"/>
            <a:ext cx="829132" cy="9144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390452" y="4087368"/>
            <a:ext cx="2737027" cy="91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424160" y="4389120"/>
            <a:ext cx="3840480" cy="749808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6132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1411C"/>
                </a:solidFill>
                <a:latin typeface="Calibri"/>
              </a:defRPr>
            </a:pPr>
            <a:r>
              <a:t>Dining &amp; Food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46908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Calibri"/>
              </a:defRPr>
            </a:pPr>
            <a:r>
              <a:t>SAR 23.2M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27280" y="46908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8.9%  |  8 facilities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61320" y="4956048"/>
            <a:ext cx="793470" cy="9144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354790" y="4956048"/>
            <a:ext cx="2772689" cy="91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424160" y="5257800"/>
            <a:ext cx="3840480" cy="749808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61320" y="5303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1411C"/>
                </a:solidFill>
                <a:latin typeface="Calibri"/>
              </a:defRPr>
            </a:pPr>
            <a:r>
              <a:t>Science Labs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1320" y="55595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Calibri"/>
              </a:defRPr>
            </a:pPr>
            <a:r>
              <a:t>SAR 17.3M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527280" y="555955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6.6%  |  40 labs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61320" y="5824728"/>
            <a:ext cx="588416" cy="9144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149736" y="5824728"/>
            <a:ext cx="2977743" cy="9144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424160" y="6263640"/>
            <a:ext cx="3840480" cy="105156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33888" y="6309360"/>
            <a:ext cx="3657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spcAft>
                <a:spcPts val="200"/>
              </a:spcAft>
              <a:defRPr sz="750" b="1">
                <a:solidFill>
                  <a:srgbClr val="424242"/>
                </a:solidFill>
                <a:latin typeface="Calibri"/>
              </a:defRPr>
            </a:pPr>
            <a:r>
              <a:t>KEY NOTES:</a:t>
            </a:r>
          </a:p>
          <a:p>
            <a:pPr algn="l">
              <a:lnSpc>
                <a:spcPts val="937"/>
              </a:lnSpc>
              <a:spcAft>
                <a:spcPts val="200"/>
              </a:spcAft>
              <a:defRPr sz="750" b="0">
                <a:solidFill>
                  <a:srgbClr val="424242"/>
                </a:solidFill>
                <a:latin typeface="Calibri"/>
              </a:defRPr>
            </a:pPr>
            <a:r>
              <a:t>• Grand total (SAR 260M) reflects sum of all</a:t>
            </a:r>
          </a:p>
          <a:p>
            <a:pPr algn="l">
              <a:lnSpc>
                <a:spcPts val="937"/>
              </a:lnSpc>
              <a:spcAft>
                <a:spcPts val="200"/>
              </a:spcAft>
              <a:defRPr sz="750" b="0">
                <a:solidFill>
                  <a:srgbClr val="424242"/>
                </a:solidFill>
                <a:latin typeface="Calibri"/>
              </a:defRPr>
            </a:pPr>
            <a:r>
              <a:t>  individual units at planning-level estimates</a:t>
            </a:r>
          </a:p>
          <a:p>
            <a:pPr algn="l">
              <a:lnSpc>
                <a:spcPts val="937"/>
              </a:lnSpc>
              <a:spcAft>
                <a:spcPts val="200"/>
              </a:spcAft>
              <a:defRPr sz="750" b="0">
                <a:solidFill>
                  <a:srgbClr val="424242"/>
                </a:solidFill>
                <a:latin typeface="Calibri"/>
              </a:defRPr>
            </a:pPr>
            <a:r>
              <a:t>• Full campus mid-range: SAR 240–260M</a:t>
            </a:r>
          </a:p>
          <a:p>
            <a:pPr algn="l">
              <a:lnSpc>
                <a:spcPts val="937"/>
              </a:lnSpc>
              <a:spcAft>
                <a:spcPts val="200"/>
              </a:spcAft>
              <a:defRPr sz="750" b="0">
                <a:solidFill>
                  <a:srgbClr val="424242"/>
                </a:solidFill>
                <a:latin typeface="Calibri"/>
              </a:defRPr>
            </a:pPr>
            <a:r>
              <a:t>• Grossing: Academic 1.45× / Service 1.65×</a:t>
            </a:r>
          </a:p>
          <a:p>
            <a:pPr algn="l">
              <a:lnSpc>
                <a:spcPts val="937"/>
              </a:lnSpc>
              <a:spcAft>
                <a:spcPts val="200"/>
              </a:spcAft>
              <a:defRPr sz="750" b="0">
                <a:solidFill>
                  <a:srgbClr val="424242"/>
                </a:solidFill>
                <a:latin typeface="Calibri"/>
              </a:defRPr>
            </a:pPr>
            <a:r>
              <a:t>• All prices in 2025 SAR baseline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7818120"/>
            <a:ext cx="14630400" cy="411480"/>
          </a:xfrm>
          <a:prstGeom prst="rect">
            <a:avLst/>
          </a:prstGeom>
          <a:solidFill>
            <a:srgbClr val="014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78455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49A2A"/>
                </a:solidFill>
                <a:latin typeface="Calibri"/>
              </a:defRPr>
            </a:pPr>
            <a:r>
              <a:t>CONFIDENTIAL  |  Pakistan International School (English Section), Riyadh  |  Donor Unit Pricing v1.0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7845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Prepared for Donor / SMC Briefing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51560"/>
          </a:xfrm>
          <a:prstGeom prst="rect">
            <a:avLst/>
          </a:prstGeom>
          <a:solidFill>
            <a:srgbClr val="014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UNIT PRICING  |  KEY FACILITIES WITH COST PER UNIT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9A2A"/>
                </a:solidFill>
                <a:latin typeface="Calibri"/>
              </a:defRPr>
            </a:pPr>
            <a:r>
              <a:t>58 unique unit types  |  NET m² × Grossing Factor × SAR 4,771/m² BUA  |  Full list in Excel workbook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228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49A2A"/>
                </a:solidFill>
                <a:latin typeface="Calibri"/>
              </a:defRPr>
            </a:pPr>
            <a:r>
              <a:t>SLIDE 3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502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Unit-Level Detail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325880"/>
          <a:ext cx="6949437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5843"/>
                <a:gridCol w="416966"/>
                <a:gridCol w="625449"/>
                <a:gridCol w="1320393"/>
                <a:gridCol w="1320393"/>
                <a:gridCol w="1320393"/>
              </a:tblGrid>
              <a:tr h="274319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Unit Name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Qty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NET m²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Cost/Unit (SAR)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(SAR)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Standard Classroom (G1–12)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249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298,302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74,277,198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 students/room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KG Classroom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432,371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11,241,646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 children/room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Nursery Activity Room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311,307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2,801,763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20–25 children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Reception Classroom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432,371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8,647,420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 children/room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Primary Science Lab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473,115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6,150,495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 students/lab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Intermediate Science Lab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495,630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3,469,410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 students/lab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Secondary Science Lab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550,262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6,603,144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 students/lab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Primary Computer Lab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473,115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2,838,690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 students/session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Secondary Computer Lab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550,262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5,502,620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 students/session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Maker / Robotics Lab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944,656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1,889,312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 students/session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Art Studio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708,492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1,416,984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 students/session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1325880"/>
          <a:ext cx="6949437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5843"/>
                <a:gridCol w="416966"/>
                <a:gridCol w="625449"/>
                <a:gridCol w="1320393"/>
                <a:gridCol w="1320393"/>
                <a:gridCol w="1320393"/>
              </a:tblGrid>
              <a:tr h="274319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Unit Name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Qty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NET m²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Cost/Unit (SAR)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(SAR)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Music / Drama Room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629,771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1,259,542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30–40 students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Primary Library / LRC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519,537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1,039,074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40–60 students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Secondary LRC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612,929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1,225,858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50–70 students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Sports Hall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7,084,924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14,169,848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200+ students/day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25m Swimming Pool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1717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13,516,460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13,516,460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300+ students/wk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Dining Hall (700-seat)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8,659,351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17,318,702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700 students/sitting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Auditorium (300 seats)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740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5,825,382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5,825,382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300-seat events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Atrium / Learning Commons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15,744,275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15,744,275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2,000+ students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Exam Hall (300 cands)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750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5,188,454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5,188,454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300 candidates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SEN Resource Room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172,948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1,729,480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4–8 students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Prayer Room / Musalla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415,076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1,660,304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100–150 per room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7315200"/>
            <a:ext cx="14081760" cy="32004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7342631"/>
            <a:ext cx="137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24242"/>
                </a:solidFill>
                <a:latin typeface="Calibri"/>
              </a:defRPr>
            </a:pPr>
            <a:r>
              <a:t>Full pricing for all 58 unit types (504 total units) available in the Excel workbook  |  Cost = NET m² × Grossing Factor × SAR 4,771/m² BUA  |  Grossing: Academic 1.45× / High-Service 1.65× / Operations 1.55×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7818120"/>
            <a:ext cx="14630400" cy="411480"/>
          </a:xfrm>
          <a:prstGeom prst="rect">
            <a:avLst/>
          </a:prstGeom>
          <a:solidFill>
            <a:srgbClr val="014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78455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49A2A"/>
                </a:solidFill>
                <a:latin typeface="Calibri"/>
              </a:defRPr>
            </a:pPr>
            <a:r>
              <a:t>CONFIDENTIAL  |  Pakistan International School (English Section), Riyadh  |  Donor Unit Pricing v1.0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7845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Prepared for Donor / SMC Briefing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51560"/>
          </a:xfrm>
          <a:prstGeom prst="rect">
            <a:avLst/>
          </a:prstGeom>
          <a:solidFill>
            <a:srgbClr val="014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DONOR PACKAGES  |  THREE GIVING 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9A2A"/>
                </a:solidFill>
                <a:latin typeface="Calibri"/>
              </a:defRPr>
            </a:pPr>
            <a:r>
              <a:t>Suggested giving levels with naming recognition  |  All amounts in SAR &amp; USD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228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49A2A"/>
                </a:solidFill>
                <a:latin typeface="Calibri"/>
              </a:defRPr>
            </a:pPr>
            <a:r>
              <a:t>SLIDE 4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502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Giving Opportunities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4297680" cy="36576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INDIVIDUAL IMPACT GIFTS  (SAR 50K – 500K)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4297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/>
                <a:gridCol w="1463040"/>
                <a:gridCol w="914400"/>
                <a:gridCol w="822960"/>
                <a:gridCol w="82296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Package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SAR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USD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Name a Classroom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SAR 298,302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USD 79,547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 students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Equip a Science Lab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SAR 473,115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USD 126,164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 students/lab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Build a Sensory Room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SAR 166,031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USD 44,275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SEN students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Sponsor a Library Corner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SAR 519,537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USD 138,543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40–60 students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Create an Art Atelier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SAR 289,862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USD 77,297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 young artists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120640" y="1325880"/>
            <a:ext cx="4297680" cy="365760"/>
          </a:xfrm>
          <a:prstGeom prst="rect">
            <a:avLst/>
          </a:prstGeom>
          <a:solidFill>
            <a:srgbClr val="014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MAJOR GIFTS  (SAR 500K – 5M)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120640" y="1783080"/>
          <a:ext cx="4297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/>
                <a:gridCol w="1463040"/>
                <a:gridCol w="914400"/>
                <a:gridCol w="822960"/>
                <a:gridCol w="82296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Package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SAR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USD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Robotics Innovation Hub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SAR 944,656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USD 251,908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STEM education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Auditorium Naming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SAR 5.8M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USD 1.6M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300-seat events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Sports Hall Sponsor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SAR 7.1M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USD 1.9M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200+ students/day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Dining Experience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SAR 8.7M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USD 2.3M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700 students/sitting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Classroom Block (10)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SAR 3.0M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USD 795K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250 students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9784080" y="1325880"/>
            <a:ext cx="4389120" cy="365760"/>
          </a:xfrm>
          <a:prstGeom prst="rect">
            <a:avLst/>
          </a:prstGeom>
          <a:solidFill>
            <a:srgbClr val="B7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13716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LANDMARK GIFTS  (SAR 5M+)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784080" y="1783080"/>
          <a:ext cx="4389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/>
                <a:gridCol w="1554480"/>
                <a:gridCol w="914400"/>
                <a:gridCol w="822960"/>
                <a:gridCol w="82296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Package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SAR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USD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01411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Swimming Pool Complex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SAR 13.5M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USD 3.6M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300+ students/wk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Exam Centre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SAR 6.4M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USD 1.7M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300 candidates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Learning Commons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SAR 15.7M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USD 4.2M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2,000+ students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Early Years Wing (55 rooms)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SAR 26.6M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USD 7.1M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800+ children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Complete SEN Suite (34 rooms)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SAR 4.2M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USD 1.1M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500+ SEN students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457200" y="3931920"/>
            <a:ext cx="13716000" cy="365760"/>
          </a:xfrm>
          <a:prstGeom prst="rect">
            <a:avLst/>
          </a:prstGeom>
          <a:solidFill>
            <a:srgbClr val="014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77640"/>
            <a:ext cx="1353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HOW TO GIVE  |  RECOGNITION &amp; CO-SPONSORSHIP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13716000" cy="292608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16552"/>
            <a:ext cx="1335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24242"/>
                </a:solidFill>
                <a:latin typeface="Calibri"/>
              </a:defRPr>
            </a:pPr>
            <a:r>
              <a:t>•  Donors may sponsor any unit individually or combine units for larger impact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09160"/>
            <a:ext cx="137160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736592"/>
            <a:ext cx="1335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24242"/>
                </a:solidFill>
                <a:latin typeface="Calibri"/>
              </a:defRPr>
            </a:pPr>
            <a:r>
              <a:t>•  Naming rights available for gifts of SAR 250,000 and above (recognition plaque on facility)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29200"/>
            <a:ext cx="13716000" cy="292608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56632"/>
            <a:ext cx="1335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24242"/>
                </a:solidFill>
                <a:latin typeface="Calibri"/>
              </a:defRPr>
            </a:pPr>
            <a:r>
              <a:t>•  Co-sponsorship welcomed — multiple donors can share the cost of larger facilities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49240"/>
            <a:ext cx="137160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76672"/>
            <a:ext cx="1335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24242"/>
                </a:solidFill>
                <a:latin typeface="Calibri"/>
              </a:defRPr>
            </a:pPr>
            <a:r>
              <a:t>•  Contact the PISES Development Office for customized giving plans and recognition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577840"/>
            <a:ext cx="11887200" cy="109728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5715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1411C"/>
                </a:solidFill>
                <a:latin typeface="Calibri"/>
              </a:defRPr>
            </a:pPr>
            <a:r>
              <a:t>"EVERY CONTRIBUTION BUILDS A FUTURE"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6126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4242"/>
                </a:solidFill>
                <a:latin typeface="Calibri"/>
              </a:defRPr>
            </a:pPr>
            <a:r>
              <a:t>From a single classroom (SAR 298K) to an entire early years wing (SAR 26.6M) — every donor gift directly builds the infrastructure that will educate 7,000 Pakistani children in Riyadh.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675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1411C"/>
                </a:solidFill>
                <a:latin typeface="Calibri"/>
              </a:defRPr>
            </a:pPr>
            <a:r>
              <a:t>WHAT YOUR GIFT CAN BUILD: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7439559"/>
            <a:ext cx="1280160" cy="58521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7210959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01411C"/>
                </a:solidFill>
                <a:latin typeface="Calibri"/>
              </a:defRPr>
            </a:pPr>
            <a:r>
              <a:t>SAR 83K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75163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24242"/>
                </a:solidFill>
                <a:latin typeface="Calibri"/>
              </a:defRPr>
            </a:pPr>
            <a:r>
              <a:t>Assessment</a:t>
            </a:r>
            <a:br/>
            <a:r>
              <a:t>Room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20240" y="7417613"/>
            <a:ext cx="1280160" cy="80467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7189013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01411C"/>
                </a:solidFill>
                <a:latin typeface="Calibri"/>
              </a:defRPr>
            </a:pPr>
            <a:r>
              <a:t>SAR 173K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75163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24242"/>
                </a:solidFill>
                <a:latin typeface="Calibri"/>
              </a:defRPr>
            </a:pPr>
            <a:r>
              <a:t>Breakout</a:t>
            </a:r>
            <a:br/>
            <a:r>
              <a:t>Room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3280" y="7388352"/>
            <a:ext cx="1280160" cy="109728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0" y="715975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01411C"/>
                </a:solidFill>
                <a:latin typeface="Calibri"/>
              </a:defRPr>
            </a:pPr>
            <a:r>
              <a:t>SAR 298K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75163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24242"/>
                </a:solidFill>
                <a:latin typeface="Calibri"/>
              </a:defRPr>
            </a:pPr>
            <a:r>
              <a:t>Classroom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7351776"/>
            <a:ext cx="1280160" cy="146304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712317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01411C"/>
                </a:solidFill>
                <a:latin typeface="Calibri"/>
              </a:defRPr>
            </a:pPr>
            <a:r>
              <a:t>SAR 473K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75163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24242"/>
                </a:solidFill>
                <a:latin typeface="Calibri"/>
              </a:defRPr>
            </a:pPr>
            <a:r>
              <a:t>Science</a:t>
            </a:r>
            <a:br/>
            <a:r>
              <a:t>Lab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7293255"/>
            <a:ext cx="1280160" cy="204825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7064655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01411C"/>
                </a:solidFill>
                <a:latin typeface="Calibri"/>
              </a:defRPr>
            </a:pPr>
            <a:r>
              <a:t>SAR 945K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75163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24242"/>
                </a:solidFill>
                <a:latin typeface="Calibri"/>
              </a:defRPr>
            </a:pPr>
            <a:r>
              <a:t>Robotics</a:t>
            </a:r>
            <a:br/>
            <a:r>
              <a:t>Lab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0" y="7205472"/>
            <a:ext cx="1280160" cy="292608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0" y="697687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01411C"/>
                </a:solidFill>
                <a:latin typeface="Calibri"/>
              </a:defRPr>
            </a:pPr>
            <a:r>
              <a:t>SAR 3.0M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75163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24242"/>
                </a:solidFill>
                <a:latin typeface="Calibri"/>
              </a:defRPr>
            </a:pPr>
            <a:r>
              <a:t>10-Room</a:t>
            </a:r>
            <a:br/>
            <a:r>
              <a:t>Block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35440" y="7095744"/>
            <a:ext cx="1280160" cy="402336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0" y="6867144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01411C"/>
                </a:solidFill>
                <a:latin typeface="Calibri"/>
              </a:defRPr>
            </a:pPr>
            <a:r>
              <a:t>SAR 7.1M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75163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24242"/>
                </a:solidFill>
                <a:latin typeface="Calibri"/>
              </a:defRPr>
            </a:pPr>
            <a:r>
              <a:t>Sports</a:t>
            </a:r>
            <a:br/>
            <a:r>
              <a:t>Hall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98480" y="6986016"/>
            <a:ext cx="1280160" cy="512064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98480" y="675741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01411C"/>
                </a:solidFill>
                <a:latin typeface="Calibri"/>
              </a:defRPr>
            </a:pPr>
            <a:r>
              <a:t>SAR 13.5M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98480" y="75163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24242"/>
                </a:solidFill>
                <a:latin typeface="Calibri"/>
              </a:defRPr>
            </a:pPr>
            <a:r>
              <a:t>Swimming</a:t>
            </a:r>
            <a:br/>
            <a:r>
              <a:t>Pool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161520" y="6949440"/>
            <a:ext cx="1280160" cy="54864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161520" y="672084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01411C"/>
                </a:solidFill>
                <a:latin typeface="Calibri"/>
              </a:defRPr>
            </a:pPr>
            <a:r>
              <a:t>SAR 15.7M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61520" y="75163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424242"/>
                </a:solidFill>
                <a:latin typeface="Calibri"/>
              </a:defRPr>
            </a:pPr>
            <a:r>
              <a:t>Learning</a:t>
            </a:r>
            <a:br/>
            <a:r>
              <a:t>Commons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7818120"/>
            <a:ext cx="14630400" cy="411480"/>
          </a:xfrm>
          <a:prstGeom prst="rect">
            <a:avLst/>
          </a:prstGeom>
          <a:solidFill>
            <a:srgbClr val="014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78455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49A2A"/>
                </a:solidFill>
                <a:latin typeface="Calibri"/>
              </a:defRPr>
            </a:pPr>
            <a:r>
              <a:t>CONFIDENTIAL  |  Pakistan International School (English Section), Riyadh  |  Donor Unit Pricing v1.0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0" y="7845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Prepared for Donor / SMC Briefing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51560"/>
          </a:xfrm>
          <a:prstGeom prst="rect">
            <a:avLst/>
          </a:prstGeom>
          <a:solidFill>
            <a:srgbClr val="014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WHAT YOUR GIFT CAN BUILD  |  QUICK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49A2A"/>
                </a:solidFill>
                <a:latin typeface="Calibri"/>
              </a:defRPr>
            </a:pPr>
            <a:r>
              <a:t>At-a-glance pricing by giving level  |  All amounts include construction, fit-out, ICT &amp; furniture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228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49A2A"/>
                </a:solidFill>
                <a:latin typeface="Calibri"/>
              </a:defRPr>
            </a:pPr>
            <a:r>
              <a:t>SLIDE 5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502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Quick Reference Card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6583680" cy="347472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62456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SAR 50,000 – 100,000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09928"/>
            <a:ext cx="6583680" cy="301752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4650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  <a:r>
              <a:t>SEN Assessment 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74650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SAR 83,000 / USD 22,000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29968"/>
            <a:ext cx="6583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6654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  <a:r>
              <a:t>Counsellor Room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6654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SAR 83,000 / USD 22,000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50008"/>
            <a:ext cx="6583680" cy="301752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38658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  <a:r>
              <a:t>Breakout Room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38658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SAR 173,000 / USD 46,000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70048"/>
            <a:ext cx="6583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70662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  <a:r>
              <a:t>Medical Clinic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70662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SAR 138,000 / USD 37,000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72968"/>
            <a:ext cx="6583680" cy="347472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209544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SAR 100,000 – 300,000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557016"/>
            <a:ext cx="6583680" cy="301752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5935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  <a:r>
              <a:t>Nursery Bedroom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59359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SAR 156,000 / USD 42,000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877056"/>
            <a:ext cx="6583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9136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  <a:r>
              <a:t>SEN Resource Room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1363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SAR 173,000 / USD 46,000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197096"/>
            <a:ext cx="6583680" cy="301752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23367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  <a:r>
              <a:t>Primary Art Atelier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23367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SAR 290,000 / USD 77,000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517136"/>
            <a:ext cx="6583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55371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  <a:r>
              <a:t>Standard Classroom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55371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SAR 298,000 / USD 79,000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20056"/>
            <a:ext cx="6583680" cy="347472"/>
          </a:xfrm>
          <a:prstGeom prst="rect">
            <a:avLst/>
          </a:prstGeom>
          <a:solidFill>
            <a:srgbClr val="014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056632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SAR 300,000 – 500,000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404104"/>
            <a:ext cx="6583680" cy="301752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440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  <a:r>
              <a:t>Nursery Activity Room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54406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SAR 311,000 / USD 83,000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724144"/>
            <a:ext cx="6583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7607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  <a:r>
              <a:t>KG / Reception Classroom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57607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SAR 432,000 / USD 115,000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6044184"/>
            <a:ext cx="6583680" cy="301752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6080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  <a:r>
              <a:t>Primary Science Lab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60807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SAR 473,000 / USD 126,000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364224"/>
            <a:ext cx="6583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  <a:r>
              <a:t>Primary Computer Lab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66160" y="64008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SAR 473,000 / USD 126,000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79" y="1325880"/>
            <a:ext cx="6583680" cy="347472"/>
          </a:xfrm>
          <a:prstGeom prst="rect">
            <a:avLst/>
          </a:prstGeom>
          <a:solidFill>
            <a:srgbClr val="014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35239" y="1362456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SAR 500,000 – 1,000,000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8079" y="1709928"/>
            <a:ext cx="6583680" cy="301752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59" y="174650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  <a:r>
              <a:t>Secondary Science Lab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39" y="174650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SAR 551,000 / USD 147,000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98079" y="2029968"/>
            <a:ext cx="6583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80959" y="206654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  <a:r>
              <a:t>Secondary Computer Lab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39" y="206654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SAR 551,000 / USD 147,000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98079" y="2350008"/>
            <a:ext cx="6583680" cy="301752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80959" y="238658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  <a:r>
              <a:t>Music / Drama Room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07039" y="238658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SAR 630,000 / USD 168,000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98079" y="2670048"/>
            <a:ext cx="6583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59" y="270662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  <a:r>
              <a:t>Art Studio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07039" y="270662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SAR 709,000 / USD 189,000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98079" y="2990088"/>
            <a:ext cx="6583680" cy="301752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59" y="302666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  <a:r>
              <a:t>Early Years Learning Commons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07039" y="302666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SAR 830,000 / USD 221,000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98079" y="3310128"/>
            <a:ext cx="6583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80959" y="334670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  <a:r>
              <a:t>Maker / Robotics Lab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07039" y="334670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SAR 945,000 / USD 252,000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498079" y="3813048"/>
            <a:ext cx="6583680" cy="347472"/>
          </a:xfrm>
          <a:prstGeom prst="rect">
            <a:avLst/>
          </a:prstGeom>
          <a:solidFill>
            <a:srgbClr val="B7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635239" y="3849624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SAR 1,000,000 – 5,000,000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98079" y="4197096"/>
            <a:ext cx="6583680" cy="301752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680959" y="423367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  <a:r>
              <a:t>Prayer Room / Musalla (×4)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07039" y="423367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SAR 1,660,000 / USD 443,000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98079" y="4517136"/>
            <a:ext cx="6583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680959" y="455371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  <a:r>
              <a:t>Classroom Block (10 rooms)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607039" y="455371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SAR 2,980,000 / USD 795,000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98079" y="4837176"/>
            <a:ext cx="6583680" cy="301752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680959" y="48737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  <a:r>
              <a:t>Exam Hall (300 candidates)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39" y="4873752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SAR 5,188,000 / USD 1,383,000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498079" y="5340096"/>
            <a:ext cx="6583680" cy="347472"/>
          </a:xfrm>
          <a:prstGeom prst="rect">
            <a:avLst/>
          </a:prstGeom>
          <a:solidFill>
            <a:srgbClr val="B7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635239" y="5376672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SAR 5,000,000+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498079" y="5724144"/>
            <a:ext cx="6583680" cy="301752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680959" y="57607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  <a:r>
              <a:t>Indoor Sports Hall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07039" y="57607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SAR 7,085,000 / USD 1,889,000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498079" y="6044184"/>
            <a:ext cx="6583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680959" y="6080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  <a:r>
              <a:t>Dining Hall + Kitchen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607039" y="60807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SAR 11,020,000 / USD 2,939,000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498079" y="6364224"/>
            <a:ext cx="6583680" cy="301752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680959" y="6400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  <a:r>
              <a:t>Swimming Pool Complex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07039" y="64008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SAR 13,519,000 / USD 3,605,000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498079" y="6684264"/>
            <a:ext cx="6583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680959" y="6720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  <a:r>
              <a:t>Auditorium (300 seats)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607039" y="67208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SAR 5,824,000 / USD 1,553,000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498079" y="7004304"/>
            <a:ext cx="6583680" cy="301752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680959" y="7040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Calibri"/>
              </a:defRPr>
            </a:pPr>
            <a:r>
              <a:t>Atrium / Learning Commons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39" y="70408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SAR 15,741,000 / USD 4,198,000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371600" y="6949440"/>
            <a:ext cx="11887200" cy="6858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828800" y="6995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Aft>
                <a:spcPts val="200"/>
              </a:spcAft>
              <a:defRPr sz="1000" b="1">
                <a:solidFill>
                  <a:srgbClr val="01411C"/>
                </a:solidFill>
                <a:latin typeface="Calibri"/>
              </a:defRPr>
            </a:pPr>
            <a:r>
              <a:t>EVERY CONTRIBUTION BUILDS A FUTURE  |  PISES NEW CAMPUS  |  7,000 STUDENTS</a:t>
            </a:r>
          </a:p>
          <a:p>
            <a:pPr algn="ctr"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01411C"/>
                </a:solidFill>
                <a:latin typeface="Calibri"/>
              </a:defRPr>
            </a:pPr>
            <a:r>
              <a:t>Contact the PISES Development Office for customized giving plans  |  Naming rights for gifts SAR 250,000+  |  Co-sponsorship welcomed</a:t>
            </a:r>
          </a:p>
        </p:txBody>
      </p:sp>
      <p:sp>
        <p:nvSpPr>
          <p:cNvPr id="99" name="Rectangle 98"/>
          <p:cNvSpPr/>
          <p:nvPr/>
        </p:nvSpPr>
        <p:spPr>
          <a:xfrm>
            <a:off x="0" y="7818120"/>
            <a:ext cx="14630400" cy="411480"/>
          </a:xfrm>
          <a:prstGeom prst="rect">
            <a:avLst/>
          </a:prstGeom>
          <a:solidFill>
            <a:srgbClr val="014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57200" y="78455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C49A2A"/>
                </a:solidFill>
                <a:latin typeface="Calibri"/>
              </a:defRPr>
            </a:pPr>
            <a:r>
              <a:t>CONFIDENTIAL  |  Pakistan International School (English Section), Riyadh  |  Donor Unit Pricing v1.0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972800" y="7845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Prepared for Donor / SMC Briefing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